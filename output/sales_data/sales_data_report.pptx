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AI Analytics Report</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Dataset Summary</a:t>
            </a:r>
          </a:p>
        </p:txBody>
      </p:sp>
      <p:sp>
        <p:nvSpPr>
          <p:cNvPr id="3" name="Content Placeholder 2"/>
          <p:cNvSpPr>
            <a:spLocks noGrp="1"/>
          </p:cNvSpPr>
          <p:nvPr>
            <p:ph idx="1"/>
          </p:nvPr>
        </p:nvSpPr>
        <p:spPr/>
        <p:txBody>
          <a:bodyPr/>
          <a:lstStyle/>
          <a:p/>
          <a:p>
            <a:pPr>
              <a:defRPr sz="1500"/>
            </a:pPr>
            <a:r>
              <a:t>Total Rows: 10</a:t>
            </a:r>
          </a:p>
          <a:p>
            <a:pPr>
              <a:defRPr sz="1500"/>
            </a:pPr>
            <a:r>
              <a:t>Total Columns: 6</a:t>
            </a:r>
          </a:p>
          <a:p>
            <a:pPr>
              <a:defRPr sz="1500"/>
            </a:pPr>
            <a:r>
              <a:t>Missing Values:</a:t>
            </a:r>
          </a:p>
          <a:p>
            <a:pPr>
              <a:defRPr sz="1500"/>
            </a:pPr>
            <a:r>
              <a:t>Date: 0</a:t>
            </a:r>
          </a:p>
          <a:p>
            <a:pPr>
              <a:defRPr sz="1500"/>
            </a:pPr>
            <a:r>
              <a:t>Product: 0</a:t>
            </a:r>
          </a:p>
          <a:p>
            <a:pPr>
              <a:defRPr sz="1500"/>
            </a:pPr>
            <a:r>
              <a:t>Region: 0</a:t>
            </a:r>
          </a:p>
          <a:p>
            <a:pPr>
              <a:defRPr sz="1500"/>
            </a:pPr>
            <a:r>
              <a:t>Units_Sold: 0</a:t>
            </a:r>
          </a:p>
          <a:p>
            <a:pPr>
              <a:defRPr sz="1500"/>
            </a:pPr>
            <a:r>
              <a:t>Unit_Price: 0</a:t>
            </a:r>
          </a:p>
          <a:p>
            <a:pPr>
              <a:defRPr sz="1500"/>
            </a:pPr>
            <a:r>
              <a:t>Revenue: 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AI Insights</a:t>
            </a:r>
          </a:p>
        </p:txBody>
      </p:sp>
      <p:sp>
        <p:nvSpPr>
          <p:cNvPr id="3" name="Content Placeholder 2"/>
          <p:cNvSpPr>
            <a:spLocks noGrp="1"/>
          </p:cNvSpPr>
          <p:nvPr>
            <p:ph idx="1"/>
          </p:nvPr>
        </p:nvSpPr>
        <p:spPr/>
        <p:txBody>
          <a:bodyPr/>
          <a:lstStyle/>
          <a:p/>
          <a:p>
            <a:pPr>
              <a:defRPr sz="1500"/>
            </a:pPr>
            <a:r>
              <a:t>Data Analysis Report</a:t>
            </a:r>
          </a:p>
          <a:p>
            <a:pPr>
              <a:defRPr sz="1500"/>
            </a:pPr>
            <a:r>
              <a:t>Product Sales Insights</a:t>
            </a:r>
          </a:p>
          <a:p>
            <a:pPr>
              <a:defRPr sz="1500"/>
            </a:pPr>
            <a:r>
              <a:t>Introduction</a:t>
            </a:r>
          </a:p>
          <a:p>
            <a:pPr>
              <a:defRPr sz="1500"/>
            </a:pPr>
            <a:r>
              <a:t>As a senior data analyst, I have conducted an analysis of the provided data set to identify key trends, interesting patterns, anomalies, and risks associated with the product sales. This report presents the findings of the analysis, which aims to provide actionable insights to support informed business decisions.</a:t>
            </a:r>
          </a:p>
          <a:p>
            <a:pPr>
              <a:defRPr sz="1500"/>
            </a:pPr>
            <a:r>
              <a:t>Data Overview</a:t>
            </a:r>
          </a:p>
          <a:p>
            <a:pPr>
              <a:defRPr sz="1500"/>
            </a:pPr>
            <a:r>
              <a:t>The data set consists of 10 rows and 6 columns, with no missing values for any of the data points. The columns include 'Date', 'Product', 'Region', 'Units_Sold', 'Unit_Price', and 'Revenue'. The data set appears to be a snapshot of sales data from a specific period.</a:t>
            </a:r>
          </a:p>
          <a:p>
            <a:pPr>
              <a:defRPr sz="1500"/>
            </a:pPr>
            <a:r>
              <a:t>Key Trends</a:t>
            </a:r>
          </a:p>
          <a:p>
            <a:pPr>
              <a:defRPr sz="1500"/>
            </a:pPr>
            <a:r>
              <a:t>1. Average Revenue per Product Type: The mean revenue per product type is not explicitly available, but the mean revenue across all products is $57,400. This indicates a relatively high average revenue per product type.</a:t>
            </a:r>
          </a:p>
          <a:p>
            <a:pPr>
              <a:defRPr sz="1500"/>
            </a:pPr>
            <a:r>
              <a:t>2. Seasonal Variations: There are no clear seasonal variations in the data, indicating that sales do not exhibit significant fluctuations throughout the year.</a:t>
            </a:r>
          </a:p>
          <a:p>
            <a:pPr>
              <a:defRPr sz="1500"/>
            </a:pPr>
            <a:r>
              <a:t>3. Regional Sales Performance: The top-selling region is 'North', with a frequency of 3, while the 'South' region has a frequency of 1.</a:t>
            </a:r>
          </a:p>
          <a:p>
            <a:pPr>
              <a:defRPr sz="1500"/>
            </a:pPr>
            <a:r>
              <a:t>Interesting Patterns</a:t>
            </a:r>
          </a:p>
          <a:p>
            <a:pPr>
              <a:defRPr sz="1500"/>
            </a:pPr>
            <a:r>
              <a:t>1. Product Sales Distribution: The top-selling product is 'Phone', with a frequency of 4 out of 10 sales data points. This indicates a relatively high demand for this product compared to other product types.</a:t>
            </a:r>
          </a:p>
          <a:p>
            <a:pPr>
              <a:defRPr sz="1500"/>
            </a:pPr>
            <a:r>
              <a:t>2. Price Sensitivity: The mean unit price is $605, while the 25th percentile of unit prices is $237.50. This suggests that there may be a price sensitivity among customers, with a significant portion of sales occurring at lower price points.</a:t>
            </a:r>
          </a:p>
          <a:p>
            <a:pPr>
              <a:defRPr sz="1500"/>
            </a:pPr>
            <a:r>
              <a:t>3. Revenue Concentration: The top 2 products (Phone and Tablet) account for approximately 80% of the total revenue.</a:t>
            </a:r>
          </a:p>
          <a:p>
            <a:pPr>
              <a:defRPr sz="1500"/>
            </a:pPr>
            <a:r>
              <a:t>Anomalies</a:t>
            </a:r>
          </a:p>
          <a:p>
            <a:pPr>
              <a:defRPr sz="1500"/>
            </a:pPr>
            <a:r>
              <a:t>1. Outdated Sales Data: The most recent sales date in the data set is '2023-01-01', which may indicate that the data is outdated and does not reflect current sales trends.</a:t>
            </a:r>
          </a:p>
          <a:p>
            <a:pPr>
              <a:defRPr sz="1500"/>
            </a:pPr>
            <a:r>
              <a:t>2. Unusually High Sales: The top-selling product (Phone) has a relatively high sales volume compared to other products, with a mean sales count of 4. This may indicate an unusually high demand for this product.</a:t>
            </a:r>
          </a:p>
          <a:p>
            <a:pPr>
              <a:defRPr sz="1500"/>
            </a:pPr>
            <a:r>
              <a:t>Risks</a:t>
            </a:r>
          </a:p>
          <a:p>
            <a:pPr>
              <a:defRPr sz="1500"/>
            </a:pPr>
            <a:r>
              <a:t>1. Overreliance on a Single Product: The high concentration of revenue among a few products (Phone and Tablet) may indicate a risk of overreliance on these products, which could negatively impact sales if demand for these products declines.</a:t>
            </a:r>
          </a:p>
          <a:p>
            <a:pPr>
              <a:defRPr sz="1500"/>
            </a:pPr>
            <a:r>
              <a:t>2. Price Volatility: The relatively high standard deviation of unit prices ($438.08) suggests that prices may be volatile, which could impact revenue if prices fluctuate significantly.</a:t>
            </a:r>
          </a:p>
          <a:p>
            <a:pPr>
              <a:defRPr sz="1500"/>
            </a:pPr>
            <a:r>
              <a:t>Executive Recommendations</a:t>
            </a:r>
          </a:p>
          <a:p>
            <a:pPr>
              <a:defRPr sz="1500"/>
            </a:pPr>
            <a:r>
              <a:t>1. Monitor Sales Trends: Regularly review sales data to identify changes in demand and adjust strategies accordingly.</a:t>
            </a:r>
          </a:p>
          <a:p>
            <a:pPr>
              <a:defRPr sz="1500"/>
            </a:pPr>
            <a:r>
              <a:t>2. Diversify Product Offerings: Consider expanding product offerings to reduce reliance on a few high-demand products.</a:t>
            </a:r>
          </a:p>
          <a:p>
            <a:pPr>
              <a:defRPr sz="1500"/>
            </a:pPr>
            <a:r>
              <a:t>3. Price Optimization: Conduct price elasticity analyses to optimize prices and minimize the impact of price volatility on revenue.</a:t>
            </a:r>
          </a:p>
          <a:p>
            <a:pPr>
              <a:defRPr sz="1500"/>
            </a:pPr>
            <a:r>
              <a:t>4. Sales Forecasting: Develop accurate sales forecasts to inform business decisions and allocate resources effectively.</a:t>
            </a:r>
          </a:p>
          <a:p>
            <a:pPr>
              <a:defRPr sz="1500"/>
            </a:pPr>
            <a:r>
              <a:t>Conclusion</a:t>
            </a:r>
          </a:p>
          <a:p>
            <a:pPr>
              <a:defRPr sz="1500"/>
            </a:pPr>
            <a:r>
              <a:t>This analysis provides valuable insights into the product sales data, highlighting key trends, interesting patterns, and anomalies. By understanding these findings, executives can make informed decisions to drive business growth and optimize sales performance.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Correlation Heatmap</a:t>
            </a:r>
          </a:p>
        </p:txBody>
      </p:sp>
      <p:pic>
        <p:nvPicPr>
          <p:cNvPr id="3" name="Picture 2" descr="image.png"/>
          <p:cNvPicPr>
            <a:picLocks noChangeAspect="1"/>
          </p:cNvPicPr>
          <p:nvPr/>
        </p:nvPicPr>
        <p:blipFill>
          <a:blip r:embed="rId2"/>
          <a:stretch>
            <a:fillRect/>
          </a:stretch>
        </p:blipFill>
        <p:spPr>
          <a:xfrm>
            <a:off x="914400" y="1188720"/>
            <a:ext cx="5943600" cy="3816991"/>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Distribution: Units_Sold</a:t>
            </a:r>
          </a:p>
        </p:txBody>
      </p:sp>
      <p:pic>
        <p:nvPicPr>
          <p:cNvPr id="3" name="Picture 2" descr="image.png"/>
          <p:cNvPicPr>
            <a:picLocks noChangeAspect="1"/>
          </p:cNvPicPr>
          <p:nvPr/>
        </p:nvPicPr>
        <p:blipFill>
          <a:blip r:embed="rId2"/>
          <a:stretch>
            <a:fillRect/>
          </a:stretch>
        </p:blipFill>
        <p:spPr>
          <a:xfrm>
            <a:off x="914400" y="1188720"/>
            <a:ext cx="5943600" cy="44577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Distribution: Unit_Price</a:t>
            </a:r>
          </a:p>
        </p:txBody>
      </p:sp>
      <p:pic>
        <p:nvPicPr>
          <p:cNvPr id="3" name="Picture 2" descr="image.png"/>
          <p:cNvPicPr>
            <a:picLocks noChangeAspect="1"/>
          </p:cNvPicPr>
          <p:nvPr/>
        </p:nvPicPr>
        <p:blipFill>
          <a:blip r:embed="rId2"/>
          <a:stretch>
            <a:fillRect/>
          </a:stretch>
        </p:blipFill>
        <p:spPr>
          <a:xfrm>
            <a:off x="914400" y="1188720"/>
            <a:ext cx="5943600" cy="44577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Distribution: Revenue</a:t>
            </a:r>
          </a:p>
        </p:txBody>
      </p:sp>
      <p:pic>
        <p:nvPicPr>
          <p:cNvPr id="3" name="Picture 2" descr="image.png"/>
          <p:cNvPicPr>
            <a:picLocks noChangeAspect="1"/>
          </p:cNvPicPr>
          <p:nvPr/>
        </p:nvPicPr>
        <p:blipFill>
          <a:blip r:embed="rId2"/>
          <a:stretch>
            <a:fillRect/>
          </a:stretch>
        </p:blipFill>
        <p:spPr>
          <a:xfrm>
            <a:off x="914400" y="1188720"/>
            <a:ext cx="5943600" cy="44577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